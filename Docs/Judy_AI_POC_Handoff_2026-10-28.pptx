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7" r:id="rId11"/>
    <p:sldId id="262" r:id="rId12"/>
    <p:sldId id="263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Light" panose="000004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OxupHyLU9hx60z63tNdcp79x5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714375"/>
            <a:ext cx="3429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2:notes"/>
          <p:cNvSpPr txBox="1">
            <a:spLocks noGrp="1"/>
          </p:cNvSpPr>
          <p:nvPr>
            <p:ph type="sldNum" idx="12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00" rIns="69850" bIns="349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40a172f64e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" name="Google Shape;81;g40a172f64e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804e370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f6804e370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2"/>
            </a:srgbClr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-28400" y="0"/>
            <a:ext cx="9172403" cy="5144700"/>
            <a:chOff x="-28400" y="0"/>
            <a:chExt cx="9172403" cy="5144700"/>
          </a:xfrm>
        </p:grpSpPr>
        <p:pic>
          <p:nvPicPr>
            <p:cNvPr id="51" name="Google Shape;51;p1"/>
            <p:cNvPicPr preferRelativeResize="0"/>
            <p:nvPr/>
          </p:nvPicPr>
          <p:blipFill rotWithShape="1">
            <a:blip r:embed="rId3">
              <a:alphaModFix/>
            </a:blip>
            <a:srcRect l="21976" r="15783"/>
            <a:stretch/>
          </p:blipFill>
          <p:spPr>
            <a:xfrm flipH="1"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  <a:effectLst>
              <a:outerShdw blurRad="171450" dist="133350" dir="7800000" algn="b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52" name="Google Shape;52;p1"/>
            <p:cNvSpPr/>
            <p:nvPr/>
          </p:nvSpPr>
          <p:spPr>
            <a:xfrm rot="10800000">
              <a:off x="-13525" y="2572500"/>
              <a:ext cx="9157500" cy="2572200"/>
            </a:xfrm>
            <a:prstGeom prst="rect">
              <a:avLst/>
            </a:prstGeom>
            <a:gradFill>
              <a:gsLst>
                <a:gs pos="0">
                  <a:srgbClr val="012247"/>
                </a:gs>
                <a:gs pos="100000">
                  <a:srgbClr val="152346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"/>
            <p:cNvSpPr txBox="1"/>
            <p:nvPr/>
          </p:nvSpPr>
          <p:spPr>
            <a:xfrm>
              <a:off x="311703" y="2554320"/>
              <a:ext cx="85206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rm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1224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" name="Google Shape;54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3892950"/>
              <a:ext cx="9144003" cy="25450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5" name="Google Shape;55;p1"/>
            <p:cNvCxnSpPr/>
            <p:nvPr/>
          </p:nvCxnSpPr>
          <p:spPr>
            <a:xfrm>
              <a:off x="2191600" y="3314015"/>
              <a:ext cx="0" cy="5532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" name="Google Shape;56;p1"/>
            <p:cNvSpPr txBox="1"/>
            <p:nvPr/>
          </p:nvSpPr>
          <p:spPr>
            <a:xfrm>
              <a:off x="2253550" y="3224293"/>
              <a:ext cx="6890423" cy="6847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57150" dir="5400000" algn="bl" rotWithShape="0">
                <a:srgbClr val="073763">
                  <a:alpha val="50196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Judy AI – AI-Powered E-Signature POC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2000" b="0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Handoff Session  |  October 28, 2026</a:t>
              </a:r>
            </a:p>
          </p:txBody>
        </p:sp>
        <p:pic>
          <p:nvPicPr>
            <p:cNvPr id="57" name="Google Shape;57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400" y="3240409"/>
              <a:ext cx="2158050" cy="654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"/>
            <p:cNvSpPr txBox="1"/>
            <p:nvPr/>
          </p:nvSpPr>
          <p:spPr>
            <a:xfrm>
              <a:off x="311703" y="4580237"/>
              <a:ext cx="3517500" cy="315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57150" dir="5400000" algn="bl" rotWithShape="0">
                <a:srgbClr val="073763">
                  <a:alpha val="50196"/>
                </a:srgbClr>
              </a:outerShdw>
            </a:effectLst>
          </p:spPr>
          <p:txBody>
            <a:bodyPr spcFirstLastPara="1" wrap="square" lIns="34275" tIns="34275" rIns="34275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2026   |   nClouds.com</a:t>
              </a:r>
              <a:endParaRPr sz="1600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l="-218" r="29617"/>
          <a:stretch/>
        </p:blipFill>
        <p:spPr>
          <a:xfrm>
            <a:off x="-27100" y="-32924"/>
            <a:ext cx="9198249" cy="51793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13676" y="-18000"/>
            <a:ext cx="9144000" cy="5179500"/>
          </a:xfrm>
          <a:prstGeom prst="rect">
            <a:avLst/>
          </a:prstGeom>
          <a:solidFill>
            <a:srgbClr val="0B2247">
              <a:alpha val="6470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62063" y="308462"/>
            <a:ext cx="55293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lang="en" sz="2500" b="0" i="0" u="none" strike="noStrike" cap="none">
                <a:solidFill>
                  <a:srgbClr val="F2F0F4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2500" b="0" i="0" u="none" strike="noStrike" cap="none">
              <a:solidFill>
                <a:srgbClr val="F2F0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100882" y="3819851"/>
            <a:ext cx="3296100" cy="5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"/>
              <a:buNone/>
            </a:pPr>
            <a:endParaRPr sz="900" b="0" i="0" u="none" strike="noStrike" cap="none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"/>
          <p:cNvPicPr preferRelativeResize="0"/>
          <p:nvPr/>
        </p:nvPicPr>
        <p:blipFill rotWithShape="1">
          <a:blip r:embed="rId5">
            <a:alphaModFix/>
          </a:blip>
          <a:srcRect t="980" b="990"/>
          <a:stretch/>
        </p:blipFill>
        <p:spPr>
          <a:xfrm>
            <a:off x="7988646" y="4712859"/>
            <a:ext cx="1083873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 txBox="1"/>
          <p:nvPr/>
        </p:nvSpPr>
        <p:spPr>
          <a:xfrm>
            <a:off x="362063" y="1376449"/>
            <a:ext cx="78456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Architecture and System Flow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We Delivered and Live Walkthrough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 and Running the System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Deliverables and Handover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POC Decisions and Phase 2 Recommendations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/>
        </p:nvSpPr>
        <p:spPr>
          <a:xfrm>
            <a:off x="160025" y="1359450"/>
            <a:ext cx="8758500" cy="24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Manual contract review: </a:t>
            </a:r>
            <a:r>
              <a:rPr lang="en" sz="1200" b="0">
                <a:solidFill>
                  <a:schemeClr val="dk1"/>
                </a:solidFill>
              </a:rPr>
              <a:t>Approvals rely on people reading every contract, which slows the cycle and risks missing critical terms or compliance issues.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Time-consuming document preparation: </a:t>
            </a:r>
            <a:r>
              <a:rPr lang="en" sz="1200" b="0">
                <a:solidFill>
                  <a:schemeClr val="dk1"/>
                </a:solidFill>
              </a:rPr>
              <a:t>Staff identify signature blocks, form fields and signers by hand for every contract packet.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No obligation tracking: </a:t>
            </a:r>
            <a:r>
              <a:rPr lang="en" sz="1200" b="0">
                <a:solidFill>
                  <a:schemeClr val="dk1"/>
                </a:solidFill>
              </a:rPr>
              <a:t>Renewal dates, milestones and vendor commitments are tracked manually, which leads to missed deadlines.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</a:rPr>
              <a:t>Hard-to-review supplier agreements: </a:t>
            </a:r>
            <a:r>
              <a:rPr lang="en" sz="1200" b="0">
                <a:solidFill>
                  <a:schemeClr val="dk1"/>
                </a:solidFill>
              </a:rPr>
              <a:t>Long, complex agreements take decision-makers time and need legal review that delays the business.</a:t>
            </a: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0" y="0"/>
            <a:ext cx="9144000" cy="601200"/>
          </a:xfrm>
          <a:prstGeom prst="rect">
            <a:avLst/>
          </a:prstGeom>
          <a:gradFill>
            <a:gsLst>
              <a:gs pos="0">
                <a:srgbClr val="142446"/>
              </a:gs>
              <a:gs pos="100000">
                <a:srgbClr val="D33459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160025" y="799775"/>
            <a:ext cx="381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Current Challenges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a172f64e6_0_5"/>
          <p:cNvSpPr txBox="1"/>
          <p:nvPr/>
        </p:nvSpPr>
        <p:spPr>
          <a:xfrm>
            <a:off x="121050" y="648288"/>
            <a:ext cx="3747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chemeClr val="dk1"/>
                </a:solidFill>
              </a:rPr>
              <a:t>POC Goal  </a:t>
            </a:r>
            <a:endParaRPr b="1"/>
          </a:p>
        </p:txBody>
      </p:sp>
      <p:sp>
        <p:nvSpPr>
          <p:cNvPr id="84" name="Google Shape;84;g40a172f64e6_0_5"/>
          <p:cNvSpPr txBox="1"/>
          <p:nvPr/>
        </p:nvSpPr>
        <p:spPr>
          <a:xfrm>
            <a:off x="121050" y="1034076"/>
            <a:ext cx="89019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sz="1200" b="1">
                <a:solidFill>
                  <a:schemeClr val="dk1"/>
                </a:solidFill>
              </a:rPr>
              <a:t>Flag risks before signing: </a:t>
            </a:r>
            <a:r>
              <a:rPr lang="en" sz="1200" b="0">
                <a:solidFill>
                  <a:schemeClr val="dk1"/>
                </a:solidFill>
              </a:rPr>
              <a:t>AI reviews supplier contracts for unusual terms, missing clauses, date mismatches and compliance gaps, with suggested wording from Judy's playbook.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sz="1200" b="1">
                <a:solidFill>
                  <a:schemeClr val="dk1"/>
                </a:solidFill>
              </a:rPr>
              <a:t>Prepare documents automatically: </a:t>
            </a:r>
            <a:r>
              <a:rPr lang="en" sz="1200" b="0">
                <a:solidFill>
                  <a:schemeClr val="dk1"/>
                </a:solidFill>
              </a:rPr>
              <a:t>AI identifies signature blocks, form fields and signers for MSA, purchase agreement and SOW templates.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sz="1200" b="1">
                <a:solidFill>
                  <a:schemeClr val="dk1"/>
                </a:solidFill>
              </a:rPr>
              <a:t>Track obligations: </a:t>
            </a:r>
            <a:r>
              <a:rPr lang="en" sz="1200" b="0">
                <a:solidFill>
                  <a:schemeClr val="dk1"/>
                </a:solidFill>
              </a:rPr>
              <a:t>After signing, AI extracts commitments, renewal dates and milestones where the contract states them.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sz="1200" b="1">
                <a:solidFill>
                  <a:schemeClr val="dk1"/>
                </a:solidFill>
              </a:rPr>
              <a:t>Summarize in plain language: </a:t>
            </a:r>
            <a:r>
              <a:rPr lang="en" sz="1200" b="0">
                <a:solidFill>
                  <a:schemeClr val="dk1"/>
                </a:solidFill>
              </a:rPr>
              <a:t>Short overviews of long supplier agreements for faster decisions.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 sz="1200" b="1">
                <a:solidFill>
                  <a:schemeClr val="dk1"/>
                </a:solidFill>
              </a:rPr>
              <a:t>Modernize the signing workflow: </a:t>
            </a:r>
            <a:r>
              <a:rPr lang="en" sz="1200" b="0">
                <a:solidFill>
                  <a:schemeClr val="dk1"/>
                </a:solidFill>
              </a:rPr>
              <a:t>Upload, review, approval chains, batch signing and a signed copy, all in Judy's own AWS account.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chemeClr val="dk1"/>
                </a:solidFill>
              </a:rPr>
              <a:t>Amazon Bedrock reviews, prepares and tracks contracts; people stay in charge of every decision.</a:t>
            </a:r>
          </a:p>
        </p:txBody>
      </p:sp>
      <p:sp>
        <p:nvSpPr>
          <p:cNvPr id="85" name="Google Shape;85;g40a172f64e6_0_5"/>
          <p:cNvSpPr/>
          <p:nvPr/>
        </p:nvSpPr>
        <p:spPr>
          <a:xfrm>
            <a:off x="281938" y="3878579"/>
            <a:ext cx="8713500" cy="71640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POC Focus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 AI-assisted contract review and e-signature on Judy's sample contracts in a single AWS environment. Not a production rollout.</a:t>
            </a:r>
          </a:p>
        </p:txBody>
      </p:sp>
      <p:pic>
        <p:nvPicPr>
          <p:cNvPr id="86" name="Google Shape;86;g40a172f64e6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40a172f64e6_0_5"/>
          <p:cNvSpPr/>
          <p:nvPr/>
        </p:nvSpPr>
        <p:spPr>
          <a:xfrm>
            <a:off x="0" y="0"/>
            <a:ext cx="9144000" cy="601200"/>
          </a:xfrm>
          <a:prstGeom prst="rect">
            <a:avLst/>
          </a:prstGeom>
          <a:gradFill>
            <a:gsLst>
              <a:gs pos="0">
                <a:srgbClr val="142446"/>
              </a:gs>
              <a:gs pos="100000">
                <a:srgbClr val="D33459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71244" y="108267"/>
            <a:ext cx="6702936" cy="51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latin typeface="Calibri"/>
                <a:ea typeface="Calibri"/>
                <a:cs typeface="Calibri"/>
                <a:sym typeface="Calibri"/>
              </a:rPr>
              <a:t>Architecture and System Flow</a:t>
            </a:r>
            <a:endParaRPr sz="24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177924" y="1534249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</a:p>
        </p:txBody>
      </p:sp>
      <p:sp>
        <p:nvSpPr>
          <p:cNvPr id="96" name="Google Shape;96;p10"/>
          <p:cNvSpPr/>
          <p:nvPr/>
        </p:nvSpPr>
        <p:spPr>
          <a:xfrm>
            <a:off x="1225296" y="1534249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Bedrock Data Automation reads the text and page layout</a:t>
            </a:r>
          </a:p>
        </p:txBody>
      </p:sp>
      <p:sp>
        <p:nvSpPr>
          <p:cNvPr id="116" name="Judy 116"/>
          <p:cNvSpPr/>
          <p:nvPr/>
        </p:nvSpPr>
        <p:spPr>
          <a:xfrm>
            <a:off x="5623560" y="1534249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SNS, SQS, Lambda, Bedrock Data Automation</a:t>
            </a:r>
          </a:p>
        </p:txBody>
      </p:sp>
      <p:sp>
        <p:nvSpPr>
          <p:cNvPr id="97" name="Google Shape;97;p10"/>
          <p:cNvSpPr/>
          <p:nvPr/>
        </p:nvSpPr>
        <p:spPr>
          <a:xfrm>
            <a:off x="1831464" y="1810321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177924" y="2064601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</a:p>
        </p:txBody>
      </p:sp>
      <p:sp>
        <p:nvSpPr>
          <p:cNvPr id="99" name="Google Shape;99;p10"/>
          <p:cNvSpPr/>
          <p:nvPr/>
        </p:nvSpPr>
        <p:spPr>
          <a:xfrm>
            <a:off x="1225296" y="2064601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AI agents check risks, find signature fields, write a summary</a:t>
            </a:r>
          </a:p>
        </p:txBody>
      </p:sp>
      <p:sp>
        <p:nvSpPr>
          <p:cNvPr id="117" name="Judy 117"/>
          <p:cNvSpPr/>
          <p:nvPr/>
        </p:nvSpPr>
        <p:spPr>
          <a:xfrm>
            <a:off x="5623560" y="2064601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Lambda agents, Amazon Bedrock (Nova Pro)</a:t>
            </a:r>
          </a:p>
        </p:txBody>
      </p:sp>
      <p:sp>
        <p:nvSpPr>
          <p:cNvPr id="100" name="Google Shape;100;p10"/>
          <p:cNvSpPr/>
          <p:nvPr/>
        </p:nvSpPr>
        <p:spPr>
          <a:xfrm>
            <a:off x="1831464" y="2340673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177924" y="2594953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</a:p>
        </p:txBody>
      </p:sp>
      <p:sp>
        <p:nvSpPr>
          <p:cNvPr id="102" name="Google Shape;102;p10"/>
          <p:cNvSpPr/>
          <p:nvPr/>
        </p:nvSpPr>
        <p:spPr>
          <a:xfrm>
            <a:off x="1225296" y="2594953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Reviewer sees risks, playbook wording and summary before sending</a:t>
            </a:r>
          </a:p>
        </p:txBody>
      </p:sp>
      <p:sp>
        <p:nvSpPr>
          <p:cNvPr id="118" name="Judy 118"/>
          <p:cNvSpPr/>
          <p:nvPr/>
        </p:nvSpPr>
        <p:spPr>
          <a:xfrm>
            <a:off x="5623560" y="2594953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Analysis API, Aurora PostgreSQL</a:t>
            </a:r>
          </a:p>
        </p:txBody>
      </p:sp>
      <p:sp>
        <p:nvSpPr>
          <p:cNvPr id="103" name="Google Shape;103;p10"/>
          <p:cNvSpPr/>
          <p:nvPr/>
        </p:nvSpPr>
        <p:spPr>
          <a:xfrm>
            <a:off x="1831464" y="2871025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177924" y="3125305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Route &amp; sign</a:t>
            </a:r>
          </a:p>
        </p:txBody>
      </p:sp>
      <p:sp>
        <p:nvSpPr>
          <p:cNvPr id="105" name="Google Shape;105;p10"/>
          <p:cNvSpPr/>
          <p:nvPr/>
        </p:nvSpPr>
        <p:spPr>
          <a:xfrm>
            <a:off x="1225296" y="3125305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Approval chain sends it to signers, in order or in parallel</a:t>
            </a:r>
          </a:p>
        </p:txBody>
      </p:sp>
      <p:sp>
        <p:nvSpPr>
          <p:cNvPr id="119" name="Judy 119"/>
          <p:cNvSpPr/>
          <p:nvPr/>
        </p:nvSpPr>
        <p:spPr>
          <a:xfrm>
            <a:off x="5623560" y="3125305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Signature workflow (Lambda), Amazon SES</a:t>
            </a:r>
          </a:p>
        </p:txBody>
      </p:sp>
      <p:sp>
        <p:nvSpPr>
          <p:cNvPr id="106" name="Google Shape;106;p10"/>
          <p:cNvSpPr/>
          <p:nvPr/>
        </p:nvSpPr>
        <p:spPr>
          <a:xfrm>
            <a:off x="1831464" y="3401377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177924" y="3655657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Signed copy</a:t>
            </a:r>
          </a:p>
        </p:txBody>
      </p:sp>
      <p:sp>
        <p:nvSpPr>
          <p:cNvPr id="108" name="Google Shape;108;p10"/>
          <p:cNvSpPr/>
          <p:nvPr/>
        </p:nvSpPr>
        <p:spPr>
          <a:xfrm>
            <a:off x="1225296" y="3655657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Signatures, names, titles and dates stamped, plus an audit page</a:t>
            </a:r>
          </a:p>
        </p:txBody>
      </p:sp>
      <p:sp>
        <p:nvSpPr>
          <p:cNvPr id="120" name="Judy 120"/>
          <p:cNvSpPr/>
          <p:nvPr/>
        </p:nvSpPr>
        <p:spPr>
          <a:xfrm>
            <a:off x="5623560" y="3655657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Lambda, Amazon S3</a:t>
            </a:r>
          </a:p>
        </p:txBody>
      </p:sp>
      <p:sp>
        <p:nvSpPr>
          <p:cNvPr id="109" name="Google Shape;109;p10"/>
          <p:cNvSpPr/>
          <p:nvPr/>
        </p:nvSpPr>
        <p:spPr>
          <a:xfrm>
            <a:off x="1831464" y="3931729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177924" y="4186009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Obligations</a:t>
            </a:r>
          </a:p>
        </p:txBody>
      </p:sp>
      <p:sp>
        <p:nvSpPr>
          <p:cNvPr id="111" name="Google Shape;111;p10"/>
          <p:cNvSpPr/>
          <p:nvPr/>
        </p:nvSpPr>
        <p:spPr>
          <a:xfrm>
            <a:off x="1225296" y="4186009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the last signature, AI lists deadlines, renewals and commitments</a:t>
            </a:r>
          </a:p>
        </p:txBody>
      </p:sp>
      <p:sp>
        <p:nvSpPr>
          <p:cNvPr id="121" name="Judy 121"/>
          <p:cNvSpPr/>
          <p:nvPr/>
        </p:nvSpPr>
        <p:spPr>
          <a:xfrm>
            <a:off x="5623560" y="4186009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Lambda agent, Amazon Bedrock</a:t>
            </a:r>
          </a:p>
        </p:txBody>
      </p:sp>
      <p:sp>
        <p:nvSpPr>
          <p:cNvPr id="112" name="Google Shape;112;p10"/>
          <p:cNvSpPr/>
          <p:nvPr/>
        </p:nvSpPr>
        <p:spPr>
          <a:xfrm>
            <a:off x="177924" y="1054741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</a:p>
        </p:txBody>
      </p:sp>
      <p:sp>
        <p:nvSpPr>
          <p:cNvPr id="113" name="Google Shape;113;p10"/>
          <p:cNvSpPr/>
          <p:nvPr/>
        </p:nvSpPr>
        <p:spPr>
          <a:xfrm>
            <a:off x="1225296" y="1067905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PDF or Word contract is uploaded in the Judy web app</a:t>
            </a:r>
          </a:p>
        </p:txBody>
      </p:sp>
      <p:sp>
        <p:nvSpPr>
          <p:cNvPr id="123" name="Judy 123"/>
          <p:cNvSpPr/>
          <p:nvPr/>
        </p:nvSpPr>
        <p:spPr>
          <a:xfrm>
            <a:off x="5623560" y="7498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AWS services</a:t>
            </a:r>
          </a:p>
        </p:txBody>
      </p:sp>
      <p:sp>
        <p:nvSpPr>
          <p:cNvPr id="122" name="Judy 122"/>
          <p:cNvSpPr/>
          <p:nvPr/>
        </p:nvSpPr>
        <p:spPr>
          <a:xfrm>
            <a:off x="1225296" y="7498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What happens</a:t>
            </a:r>
          </a:p>
        </p:txBody>
      </p:sp>
      <p:sp>
        <p:nvSpPr>
          <p:cNvPr id="115" name="Judy 115"/>
          <p:cNvSpPr/>
          <p:nvPr/>
        </p:nvSpPr>
        <p:spPr>
          <a:xfrm>
            <a:off x="5623560" y="1067905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>
                <a:solidFill>
                  <a:srgbClr val="1B4F72"/>
                </a:solidFill>
                <a:latin typeface="Arial"/>
                <a:ea typeface="Arial"/>
                <a:cs typeface="Arial"/>
                <a:sym typeface="Arial"/>
              </a:rPr>
              <a:t>CloudFront, Cognito, API Gateway, S3</a:t>
            </a:r>
          </a:p>
        </p:txBody>
      </p:sp>
      <p:sp>
        <p:nvSpPr>
          <p:cNvPr id="114" name="Google Shape;114;p10"/>
          <p:cNvSpPr/>
          <p:nvPr/>
        </p:nvSpPr>
        <p:spPr>
          <a:xfrm>
            <a:off x="1831464" y="1325461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0" y="0"/>
            <a:ext cx="9144000" cy="601200"/>
          </a:xfrm>
          <a:prstGeom prst="rect">
            <a:avLst/>
          </a:prstGeom>
          <a:gradFill>
            <a:gsLst>
              <a:gs pos="0">
                <a:srgbClr val="142446"/>
              </a:gs>
              <a:gs pos="100000">
                <a:srgbClr val="D33459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Architecture on AWS</a:t>
            </a:r>
          </a:p>
        </p:txBody>
      </p:sp>
      <p:pic>
        <p:nvPicPr>
          <p:cNvPr id="78" name="Judy AI AWS architecture" descr="Judy AI AWS architecture: web and identity, API, application Lambdas, events and messaging, AI services, data and storage, operations, SES in us-east-1"/>
          <p:cNvPicPr>
            <a:picLocks noChangeAspect="1"/>
          </p:cNvPicPr>
          <p:nvPr/>
        </p:nvPicPr>
        <p:blipFill>
          <a:blip r:embed="rId3"/>
          <a:srcRect t="5000"/>
          <a:stretch>
            <a:fillRect/>
          </a:stretch>
        </p:blipFill>
        <p:spPr>
          <a:xfrm>
            <a:off x="376616" y="658368"/>
            <a:ext cx="8390766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f6804e3707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6804e3707_0_3"/>
          <p:cNvSpPr/>
          <p:nvPr/>
        </p:nvSpPr>
        <p:spPr>
          <a:xfrm>
            <a:off x="24384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Judy Web App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Upload, review, route, sign and download, with secure sign-in, served through CloudFront.</a:t>
            </a:r>
          </a:p>
        </p:txBody>
      </p:sp>
      <p:sp>
        <p:nvSpPr>
          <p:cNvPr id="121" name="Google Shape;121;g3f6804e3707_0_3"/>
          <p:cNvSpPr/>
          <p:nvPr/>
        </p:nvSpPr>
        <p:spPr>
          <a:xfrm>
            <a:off x="328041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Extraction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Bedrock Data Automation reads PDF and Word: the text plus where each line sits on the page.</a:t>
            </a:r>
          </a:p>
        </p:txBody>
      </p:sp>
      <p:sp>
        <p:nvSpPr>
          <p:cNvPr id="122" name="Google Shape;122;g3f6804e3707_0_3"/>
          <p:cNvSpPr/>
          <p:nvPr/>
        </p:nvSpPr>
        <p:spPr>
          <a:xfrm>
            <a:off x="623316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AI Agents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&amp; clause (Judy playbook), signature fields, summary and obligations, on Amazon Nova Pro.</a:t>
            </a:r>
          </a:p>
        </p:txBody>
      </p:sp>
      <p:sp>
        <p:nvSpPr>
          <p:cNvPr id="123" name="Google Shape;123;g3f6804e3707_0_3"/>
          <p:cNvSpPr/>
          <p:nvPr/>
        </p:nvSpPr>
        <p:spPr>
          <a:xfrm>
            <a:off x="28575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Approval &amp; Signing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Sequential or parallel chains, batch signing, name, title and initials, email notifications.</a:t>
            </a:r>
          </a:p>
        </p:txBody>
      </p:sp>
      <p:sp>
        <p:nvSpPr>
          <p:cNvPr id="124" name="Google Shape;124;g3f6804e3707_0_3"/>
          <p:cNvSpPr/>
          <p:nvPr/>
        </p:nvSpPr>
        <p:spPr>
          <a:xfrm>
            <a:off x="630936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&amp; Operations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panel for templates and settings, AI API, CloudWatch alarms, all infrastructure in Terraform.</a:t>
            </a:r>
          </a:p>
        </p:txBody>
      </p:sp>
      <p:sp>
        <p:nvSpPr>
          <p:cNvPr id="125" name="Google Shape;125;g3f6804e3707_0_3"/>
          <p:cNvSpPr/>
          <p:nvPr/>
        </p:nvSpPr>
        <p:spPr>
          <a:xfrm>
            <a:off x="334137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Signed Copy &amp; Audit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Stamped signed PDF with an audit page listing every signer; one-click download.</a:t>
            </a:r>
          </a:p>
        </p:txBody>
      </p:sp>
      <p:sp>
        <p:nvSpPr>
          <p:cNvPr id="126" name="Google Shape;126;g3f6804e3707_0_3"/>
          <p:cNvSpPr/>
          <p:nvPr/>
        </p:nvSpPr>
        <p:spPr>
          <a:xfrm>
            <a:off x="0" y="0"/>
            <a:ext cx="9144000" cy="601200"/>
          </a:xfrm>
          <a:prstGeom prst="rect">
            <a:avLst/>
          </a:prstGeom>
          <a:gradFill>
            <a:gsLst>
              <a:gs pos="0">
                <a:srgbClr val="142446"/>
              </a:gs>
              <a:gs pos="100000">
                <a:srgbClr val="D33459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Delivered</a:t>
            </a:r>
          </a:p>
        </p:txBody>
      </p:sp>
      <p:sp>
        <p:nvSpPr>
          <p:cNvPr id="127" name="Google Shape;127;g3f6804e3707_0_3"/>
          <p:cNvSpPr txBox="1"/>
          <p:nvPr/>
        </p:nvSpPr>
        <p:spPr>
          <a:xfrm>
            <a:off x="285750" y="571361"/>
            <a:ext cx="8614410" cy="70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design principle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advises, people decide. Suggested wording comes word for word from Judy's playbook.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f6804e3707_0_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6804e3707_0_3"/>
          <p:cNvSpPr/>
          <p:nvPr/>
        </p:nvSpPr>
        <p:spPr>
          <a:xfrm>
            <a:off x="24384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agents live: risk, fields, summary, obligations</a:t>
            </a:r>
          </a:p>
        </p:txBody>
      </p:sp>
      <p:sp>
        <p:nvSpPr>
          <p:cNvPr id="121" name="Google Shape;121;g3f6804e3707_0_3"/>
          <p:cNvSpPr/>
          <p:nvPr/>
        </p:nvSpPr>
        <p:spPr>
          <a:xfrm>
            <a:off x="328041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11/11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playbook rules found on the test set</a:t>
            </a:r>
          </a:p>
        </p:txBody>
      </p:sp>
      <p:sp>
        <p:nvSpPr>
          <p:cNvPr id="122" name="Google Shape;122;g3f6804e3707_0_3"/>
          <p:cNvSpPr/>
          <p:nvPr/>
        </p:nvSpPr>
        <p:spPr>
          <a:xfrm>
            <a:off x="623316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98%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summary key points traced to a contract sentence</a:t>
            </a:r>
          </a:p>
        </p:txBody>
      </p:sp>
      <p:sp>
        <p:nvSpPr>
          <p:cNvPr id="123" name="Google Shape;123;g3f6804e3707_0_3"/>
          <p:cNvSpPr/>
          <p:nvPr/>
        </p:nvSpPr>
        <p:spPr>
          <a:xfrm>
            <a:off x="28575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invented dates in extracted obligations</a:t>
            </a:r>
          </a:p>
        </p:txBody>
      </p:sp>
      <p:sp>
        <p:nvSpPr>
          <p:cNvPr id="124" name="Google Shape;124;g3f6804e3707_0_3"/>
          <p:cNvSpPr/>
          <p:nvPr/>
        </p:nvSpPr>
        <p:spPr>
          <a:xfrm>
            <a:off x="630936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~$0.13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and extraction cost per contract (list prices)</a:t>
            </a:r>
          </a:p>
        </p:txBody>
      </p:sp>
      <p:sp>
        <p:nvSpPr>
          <p:cNvPr id="125" name="Google Shape;125;g3f6804e3707_0_3"/>
          <p:cNvSpPr/>
          <p:nvPr/>
        </p:nvSpPr>
        <p:spPr>
          <a:xfrm>
            <a:off x="334137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~45 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upload to full AI analysis</a:t>
            </a:r>
          </a:p>
        </p:txBody>
      </p:sp>
      <p:sp>
        <p:nvSpPr>
          <p:cNvPr id="126" name="Google Shape;126;g3f6804e3707_0_3"/>
          <p:cNvSpPr/>
          <p:nvPr/>
        </p:nvSpPr>
        <p:spPr>
          <a:xfrm>
            <a:off x="0" y="0"/>
            <a:ext cx="9144000" cy="601200"/>
          </a:xfrm>
          <a:prstGeom prst="rect">
            <a:avLst/>
          </a:prstGeom>
          <a:gradFill>
            <a:gsLst>
              <a:gs pos="0">
                <a:srgbClr val="142446"/>
              </a:gs>
              <a:gs pos="100000">
                <a:srgbClr val="D33459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in Numbers</a:t>
            </a:r>
          </a:p>
        </p:txBody>
      </p:sp>
      <p:sp>
        <p:nvSpPr>
          <p:cNvPr id="127" name="Google Shape;127;g3f6804e3707_0_3"/>
          <p:cNvSpPr txBox="1"/>
          <p:nvPr/>
        </p:nvSpPr>
        <p:spPr>
          <a:xfrm>
            <a:off x="285750" y="571361"/>
            <a:ext cx="8614410" cy="70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the POC performed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Measured on the 8-contract test set built from Judy's own templates, and on the live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f6804e3707_0_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6804e3707_0_3"/>
          <p:cNvSpPr/>
          <p:nvPr/>
        </p:nvSpPr>
        <p:spPr>
          <a:xfrm>
            <a:off x="24384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Checks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CloudWatch alarms email the admins on errors; a failed upload waits in a dead-letter queue.</a:t>
            </a:r>
          </a:p>
        </p:txBody>
      </p:sp>
      <p:sp>
        <p:nvSpPr>
          <p:cNvPr id="121" name="Google Shape;121;g3f6804e3707_0_3"/>
          <p:cNvSpPr/>
          <p:nvPr/>
        </p:nvSpPr>
        <p:spPr>
          <a:xfrm>
            <a:off x="328041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Re-run Analysis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API call re-runs any AI agent for a contract, for example after a playbook change.</a:t>
            </a:r>
          </a:p>
        </p:txBody>
      </p:sp>
      <p:sp>
        <p:nvSpPr>
          <p:cNvPr id="122" name="Google Shape;122;g3f6804e3707_0_3"/>
          <p:cNvSpPr/>
          <p:nvPr/>
        </p:nvSpPr>
        <p:spPr>
          <a:xfrm>
            <a:off x="6233160" y="1504950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the Playbook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 the Word playbook, regenerate the rules, run the checks, deploy. Guide included.</a:t>
            </a:r>
          </a:p>
        </p:txBody>
      </p:sp>
      <p:sp>
        <p:nvSpPr>
          <p:cNvPr id="123" name="Google Shape;123;g3f6804e3707_0_3"/>
          <p:cNvSpPr/>
          <p:nvPr/>
        </p:nvSpPr>
        <p:spPr>
          <a:xfrm>
            <a:off x="28575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 the AI Model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Switch to another Bedrock model with one setting; evaluation scripts compare results.</a:t>
            </a:r>
          </a:p>
        </p:txBody>
      </p:sp>
      <p:sp>
        <p:nvSpPr>
          <p:cNvPr id="124" name="Google Shape;124;g3f6804e3707_0_3"/>
          <p:cNvSpPr/>
          <p:nvPr/>
        </p:nvSpPr>
        <p:spPr>
          <a:xfrm>
            <a:off x="630936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 &amp; Access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Admins create users in Amazon Cognito; each user sees only their own and assigned contracts.</a:t>
            </a:r>
          </a:p>
        </p:txBody>
      </p:sp>
      <p:sp>
        <p:nvSpPr>
          <p:cNvPr id="125" name="Google Shape;125;g3f6804e3707_0_3"/>
          <p:cNvSpPr/>
          <p:nvPr/>
        </p:nvSpPr>
        <p:spPr>
          <a:xfrm>
            <a:off x="3341370" y="3204154"/>
            <a:ext cx="2461260" cy="1413510"/>
          </a:xfrm>
          <a:prstGeom prst="roundRect">
            <a:avLst>
              <a:gd name="adj" fmla="val 16667"/>
            </a:avLst>
          </a:prstGeom>
          <a:solidFill>
            <a:srgbClr val="082246"/>
          </a:solidFill>
          <a:ln w="9525" cap="flat" cmpd="sng">
            <a:solidFill>
              <a:srgbClr val="08224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 Changes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for AWS infrastructure and functions; web app via S3 upload and CloudFront refresh.</a:t>
            </a:r>
          </a:p>
        </p:txBody>
      </p:sp>
      <p:sp>
        <p:nvSpPr>
          <p:cNvPr id="126" name="Google Shape;126;g3f6804e3707_0_3"/>
          <p:cNvSpPr/>
          <p:nvPr/>
        </p:nvSpPr>
        <p:spPr>
          <a:xfrm>
            <a:off x="0" y="0"/>
            <a:ext cx="9144000" cy="601200"/>
          </a:xfrm>
          <a:prstGeom prst="rect">
            <a:avLst/>
          </a:prstGeom>
          <a:gradFill>
            <a:gsLst>
              <a:gs pos="0">
                <a:srgbClr val="142446"/>
              </a:gs>
              <a:gs pos="100000">
                <a:srgbClr val="D33459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Running the System</a:t>
            </a:r>
          </a:p>
        </p:txBody>
      </p:sp>
      <p:sp>
        <p:nvSpPr>
          <p:cNvPr id="127" name="Google Shape;127;g3f6804e3707_0_3"/>
          <p:cNvSpPr txBox="1"/>
          <p:nvPr/>
        </p:nvSpPr>
        <p:spPr>
          <a:xfrm>
            <a:off x="285750" y="571361"/>
            <a:ext cx="8614410" cy="70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Day-to-day operations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Everything runs in Judy's AWS account; the admin reference document has step-by-step detail.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251875" y="282621"/>
            <a:ext cx="85504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 b="1">
                <a:solidFill>
                  <a:schemeClr val="dk1"/>
                </a:solidFill>
              </a:rPr>
              <a:t>Deliverables &amp; Handover</a:t>
            </a:r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2">
            <a:alphaModFix/>
          </a:blip>
          <a:srcRect t="980" b="990"/>
          <a:stretch/>
        </p:blipFill>
        <p:spPr>
          <a:xfrm>
            <a:off x="7988646" y="4821125"/>
            <a:ext cx="1083873" cy="3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2">
            <a:alphaModFix/>
          </a:blip>
          <a:srcRect t="980" b="990"/>
          <a:stretch/>
        </p:blipFill>
        <p:spPr>
          <a:xfrm>
            <a:off x="7988646" y="4712859"/>
            <a:ext cx="1083873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152400" y="1235156"/>
            <a:ext cx="34137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1"/>
                </a:solidFill>
              </a:rPr>
              <a:t>Delivered to Judy</a:t>
            </a:r>
          </a:p>
        </p:txBody>
      </p:sp>
      <p:sp>
        <p:nvSpPr>
          <p:cNvPr id="137" name="Google Shape;137;p5"/>
          <p:cNvSpPr txBox="1"/>
          <p:nvPr/>
        </p:nvSpPr>
        <p:spPr>
          <a:xfrm>
            <a:off x="152400" y="1603826"/>
            <a:ext cx="40842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system in Judy's AWS account (us-west-2)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code and Terraform in Judy's GitHub repository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Administrator reference document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architecture diagram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Playbook update guide (PDF)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API reference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handoff session (recorded)</a:t>
            </a:r>
          </a:p>
        </p:txBody>
      </p:sp>
      <p:sp>
        <p:nvSpPr>
          <p:cNvPr id="138" name="Google Shape;138;p5"/>
          <p:cNvSpPr txBox="1"/>
          <p:nvPr/>
        </p:nvSpPr>
        <p:spPr>
          <a:xfrm>
            <a:off x="4907281" y="1252385"/>
            <a:ext cx="36499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1"/>
                </a:solidFill>
              </a:rPr>
              <a:t>Handover actions</a:t>
            </a:r>
          </a:p>
        </p:txBody>
      </p:sp>
      <p:sp>
        <p:nvSpPr>
          <p:cNvPr id="139" name="Google Shape;139;p5"/>
          <p:cNvSpPr txBox="1"/>
          <p:nvPr/>
        </p:nvSpPr>
        <p:spPr>
          <a:xfrm>
            <a:off x="4907281" y="1663865"/>
            <a:ext cx="4084200" cy="17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l" rtl="0"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>
                <a:solidFill>
                  <a:schemeClr val="dk1"/>
                </a:solidFill>
              </a:rPr>
              <a:t>Send alarm emails to Judy's team</a:t>
            </a:r>
          </a:p>
          <a:p>
            <a:pPr marL="171450" lvl="0" indent="-171450" algn="l" rtl="0"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>
                <a:solidFill>
                  <a:schemeClr val="dk1"/>
                </a:solidFill>
              </a:rPr>
              <a:t>Give Judy's admins their own AWS access and retire the delivery team's access keys</a:t>
            </a:r>
          </a:p>
          <a:p>
            <a:pPr marL="171450" lvl="0" indent="-171450" algn="l" rtl="0"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>
                <a:solidFill>
                  <a:schemeClr val="dk1"/>
                </a:solidFill>
              </a:rPr>
              <a:t>Confirm Judy's admin rights on the GitHub repository</a:t>
            </a:r>
          </a:p>
          <a:p>
            <a:pPr marL="171450" lvl="0" indent="-171450" algn="l" rtl="0">
              <a:spcBef>
                <a:spcPts val="800"/>
              </a:spcBef>
              <a:spcAft>
                <a:spcPts val="0"/>
              </a:spcAft>
              <a:buChar char="•"/>
            </a:pPr>
            <a:r>
              <a:rPr lang="en" sz="1200" b="0">
                <a:solidFill>
                  <a:schemeClr val="dk1"/>
                </a:solidFill>
              </a:rPr>
              <a:t>Resolve the paused related AWS account so AWS approves production email (SES)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251875" y="282621"/>
            <a:ext cx="85504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 b="1" dirty="0">
                <a:solidFill>
                  <a:schemeClr val="dk1"/>
                </a:solidFill>
              </a:rPr>
              <a:t>Phase 2 Recommendations</a:t>
            </a:r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/>
          </a:blip>
          <a:srcRect t="980" b="990"/>
          <a:stretch/>
        </p:blipFill>
        <p:spPr>
          <a:xfrm>
            <a:off x="7988646" y="4821125"/>
            <a:ext cx="1083873" cy="3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0" y="4712858"/>
            <a:ext cx="9144402" cy="3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t="980" b="990"/>
          <a:stretch/>
        </p:blipFill>
        <p:spPr>
          <a:xfrm>
            <a:off x="7988646" y="4712859"/>
            <a:ext cx="1083873" cy="3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/>
        </p:nvSpPr>
        <p:spPr>
          <a:xfrm>
            <a:off x="251875" y="568971"/>
            <a:ext cx="8711821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PK" sz="900" dirty="0"/>
          </a:p>
          <a:p>
            <a:r>
              <a:rPr lang="en-PK" sz="900" b="1" dirty="0"/>
              <a:t>1. Product features (raised by Eean during the POC)</a:t>
            </a:r>
            <a:endParaRPr lang="en-PK" sz="900" dirty="0"/>
          </a:p>
          <a:p>
            <a:pPr lvl="0"/>
            <a:r>
              <a:rPr lang="en-PK" sz="900" b="1" dirty="0"/>
              <a:t>Receiver sign-in and account creation,</a:t>
            </a:r>
            <a:r>
              <a:rPr lang="en-PK" sz="900" dirty="0"/>
              <a:t> so signers have their own login and inbox</a:t>
            </a:r>
          </a:p>
          <a:p>
            <a:pPr lvl="0"/>
            <a:r>
              <a:rPr lang="en-PK" sz="900" b="1" dirty="0"/>
              <a:t>Email the signed copy to all parties</a:t>
            </a:r>
            <a:r>
              <a:rPr lang="en-PK" sz="900" dirty="0"/>
              <a:t> when the last person signs</a:t>
            </a:r>
          </a:p>
          <a:p>
            <a:pPr lvl="0"/>
            <a:r>
              <a:rPr lang="en-PK" sz="900" b="1" dirty="0"/>
              <a:t>Sender pre-fill and click-to-fill:</a:t>
            </a:r>
            <a:r>
              <a:rPr lang="en-PK" sz="900" dirty="0"/>
              <a:t> the sender fills in the fields the AI found before sending, and signers can click a field on the document to fill it</a:t>
            </a:r>
          </a:p>
          <a:p>
            <a:pPr lvl="0"/>
            <a:r>
              <a:rPr lang="en-PK" sz="900" b="1" dirty="0"/>
              <a:t>Message box</a:t>
            </a:r>
            <a:r>
              <a:rPr lang="en-PK" sz="900" dirty="0"/>
              <a:t> for the sender to add a note to the signers</a:t>
            </a:r>
          </a:p>
          <a:p>
            <a:pPr lvl="0"/>
            <a:r>
              <a:rPr lang="en-PK" sz="900" b="1" dirty="0"/>
              <a:t>Integration with the main Judy app,</a:t>
            </a:r>
            <a:r>
              <a:rPr lang="en-PK" sz="900" dirty="0"/>
              <a:t> so contracts flow in and out of the existing platform</a:t>
            </a:r>
          </a:p>
          <a:p>
            <a:br>
              <a:rPr lang="en-US" sz="900" b="1"/>
            </a:br>
            <a:br>
              <a:rPr lang="en-US" sz="900" b="1"/>
            </a:br>
            <a:r>
              <a:rPr lang="en-PK" sz="900" b="1"/>
              <a:t>2</a:t>
            </a:r>
            <a:r>
              <a:rPr lang="en-PK" sz="900" b="1" dirty="0"/>
              <a:t>. AI improvements</a:t>
            </a:r>
            <a:endParaRPr lang="en-PK" sz="900" dirty="0"/>
          </a:p>
          <a:p>
            <a:pPr lvl="0"/>
            <a:r>
              <a:rPr lang="en-PK" sz="900" b="1" dirty="0"/>
              <a:t>Check for unfilled blanks and leftover placeholders</a:t>
            </a:r>
            <a:r>
              <a:rPr lang="en-PK" sz="900" dirty="0"/>
              <a:t> (for example "[COMPANY NAME]") before a contract is sent</a:t>
            </a:r>
          </a:p>
          <a:p>
            <a:pPr lvl="0"/>
            <a:r>
              <a:rPr lang="en-PK" sz="900" b="1" dirty="0"/>
              <a:t>Validate purchase agreements and </a:t>
            </a:r>
            <a:r>
              <a:rPr lang="en-PK" sz="900" b="1" dirty="0" err="1"/>
              <a:t>SOWs</a:t>
            </a:r>
            <a:r>
              <a:rPr lang="en-PK" sz="900" b="1" dirty="0"/>
              <a:t> with real samples</a:t>
            </a:r>
            <a:r>
              <a:rPr lang="en-PK" sz="900" dirty="0"/>
              <a:t> (untested in the POC because no samples came). Add more contract types (for example vendor agreements) if needed.</a:t>
            </a:r>
          </a:p>
          <a:p>
            <a:pPr lvl="0"/>
            <a:r>
              <a:rPr lang="en-PK" sz="900" b="1" dirty="0"/>
              <a:t>Let senders adjust or add signature boxes</a:t>
            </a:r>
            <a:r>
              <a:rPr lang="en-PK" sz="900" dirty="0"/>
              <a:t> where the AI can't place one (for example extra signer blocks on consent forms)</a:t>
            </a:r>
          </a:p>
          <a:p>
            <a:pPr lvl="0"/>
            <a:r>
              <a:rPr lang="en-PK" sz="900" b="1" dirty="0"/>
              <a:t>Feedback loop:</a:t>
            </a:r>
            <a:r>
              <a:rPr lang="en-PK" sz="900" dirty="0"/>
              <a:t> users mark AI findings as useful or not, so accuracy can be measured and improved over time</a:t>
            </a:r>
          </a:p>
          <a:p>
            <a:pPr lvl="0"/>
            <a:r>
              <a:rPr lang="en-PK" sz="900" b="1" dirty="0"/>
              <a:t>Grow the playbook</a:t>
            </a:r>
            <a:r>
              <a:rPr lang="en-PK" sz="900" dirty="0"/>
              <a:t> beyond the current 11 sections, with your legal partner reviewing the wording</a:t>
            </a:r>
          </a:p>
          <a:p>
            <a:pPr lvl="0"/>
            <a:r>
              <a:rPr lang="en-PK" sz="900" b="1" dirty="0"/>
              <a:t>Support scanned documents (OCR)</a:t>
            </a:r>
            <a:r>
              <a:rPr lang="en-PK" sz="900" dirty="0"/>
              <a:t> if needed. The POC reads text-based PDF and Word files only.</a:t>
            </a:r>
          </a:p>
          <a:p>
            <a:br>
              <a:rPr lang="en-US" sz="900" b="1" dirty="0"/>
            </a:br>
            <a:br>
              <a:rPr lang="en-US" sz="900" b="1" dirty="0"/>
            </a:br>
            <a:r>
              <a:rPr lang="en-PK" sz="900" b="1" dirty="0"/>
              <a:t>3. Production readiness</a:t>
            </a:r>
            <a:endParaRPr lang="en-PK" sz="900" dirty="0"/>
          </a:p>
          <a:p>
            <a:pPr lvl="0"/>
            <a:r>
              <a:rPr lang="en-PK" sz="900" b="1" dirty="0"/>
              <a:t>Security:</a:t>
            </a:r>
            <a:r>
              <a:rPr lang="en-PK" sz="900" dirty="0"/>
              <a:t> multi-factor sign-in, Judy's own web address with HTTPS, and a web firewall (AWS WAF)</a:t>
            </a:r>
          </a:p>
          <a:p>
            <a:pPr lvl="0"/>
            <a:r>
              <a:rPr lang="en-PK" sz="900" b="1" dirty="0"/>
              <a:t>Data protection:</a:t>
            </a:r>
            <a:r>
              <a:rPr lang="en-PK" sz="900" dirty="0"/>
              <a:t> longer database backups, deletion protection and point-in-time recovery, plus a data retention policy (how long contracts are kept and how they're deleted)</a:t>
            </a:r>
          </a:p>
          <a:p>
            <a:pPr lvl="0"/>
            <a:r>
              <a:rPr lang="en-PK" sz="900" b="1" dirty="0"/>
              <a:t>Email to any address:</a:t>
            </a:r>
            <a:r>
              <a:rPr lang="en-PK" sz="900" dirty="0"/>
              <a:t> resolve the paused related AWS account so AWS approves production email</a:t>
            </a:r>
          </a:p>
          <a:p>
            <a:pPr lvl="0"/>
            <a:r>
              <a:rPr lang="en-PK" sz="900" b="1" dirty="0"/>
              <a:t>Compliance:</a:t>
            </a:r>
            <a:r>
              <a:rPr lang="en-PK" sz="900" dirty="0"/>
              <a:t> an AWS BAA and HIPAA-eligible services before real patient or research data is used</a:t>
            </a:r>
          </a:p>
          <a:p>
            <a:pPr lvl="0"/>
            <a:r>
              <a:rPr lang="en-PK" sz="900" b="1" dirty="0"/>
              <a:t>Legal strength of e-signatures:</a:t>
            </a:r>
            <a:r>
              <a:rPr lang="en-PK" sz="900" dirty="0"/>
              <a:t> signer identity check (email one-time code), consent to sign electronically, and a tamper-evident signed PDF</a:t>
            </a:r>
          </a:p>
          <a:p>
            <a:pPr lvl="0"/>
            <a:r>
              <a:rPr lang="en-PK" sz="900" b="1" dirty="0"/>
              <a:t>Environments and deployments:</a:t>
            </a:r>
            <a:r>
              <a:rPr lang="en-PK" sz="900" dirty="0"/>
              <a:t> a staging environment, a dedicated AWS account for production, and automated deployments (CI/CD)</a:t>
            </a:r>
          </a:p>
          <a:p>
            <a:pPr lvl="0"/>
            <a:r>
              <a:rPr lang="en-PK" sz="900" b="1" dirty="0"/>
              <a:t>Cost and scale:</a:t>
            </a:r>
            <a:r>
              <a:rPr lang="en-PK" sz="900" dirty="0"/>
              <a:t> remove idle resources from the POC, set cost alerts, and request Bedrock limit increases ahead of larger volumes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l="-218" r="29617"/>
          <a:stretch/>
        </p:blipFill>
        <p:spPr>
          <a:xfrm>
            <a:off x="-54250" y="-17950"/>
            <a:ext cx="9198249" cy="5179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-27125" y="59175"/>
            <a:ext cx="9144000" cy="5084400"/>
          </a:xfrm>
          <a:prstGeom prst="rect">
            <a:avLst/>
          </a:prstGeom>
          <a:solidFill>
            <a:srgbClr val="0B2247">
              <a:alpha val="6470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 rot="5400000">
            <a:off x="2523025" y="-352700"/>
            <a:ext cx="726900" cy="5859600"/>
          </a:xfrm>
          <a:prstGeom prst="rect">
            <a:avLst/>
          </a:prstGeom>
          <a:gradFill>
            <a:gsLst>
              <a:gs pos="0">
                <a:srgbClr val="E99335"/>
              </a:gs>
              <a:gs pos="100000">
                <a:srgbClr val="D3345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 t="980" b="990"/>
          <a:stretch/>
        </p:blipFill>
        <p:spPr>
          <a:xfrm>
            <a:off x="7145227" y="4515375"/>
            <a:ext cx="1688975" cy="50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223675" y="2289450"/>
            <a:ext cx="52779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1295</Words>
  <Application>Microsoft Office PowerPoint</Application>
  <PresentationFormat>On-screen Show (16:9)</PresentationFormat>
  <Paragraphs>142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Poppins Light</vt:lpstr>
      <vt:lpstr>Poppins</vt:lpstr>
      <vt:lpstr>Arial</vt:lpstr>
      <vt:lpstr>Heebo</vt:lpstr>
      <vt:lpstr>Montserrat</vt:lpstr>
      <vt:lpstr>Simple Light</vt:lpstr>
      <vt:lpstr>PowerPoint Presentation</vt:lpstr>
      <vt:lpstr>PowerPoint Presentation</vt:lpstr>
      <vt:lpstr>PowerPoint Presentation</vt:lpstr>
      <vt:lpstr>PowerPoint Presentation</vt:lpstr>
      <vt:lpstr>Architecture and System Flow</vt:lpstr>
      <vt:lpstr>PowerPoint Presentation</vt:lpstr>
      <vt:lpstr>PowerPoint Presentation</vt:lpstr>
      <vt:lpstr>PowerPoint Presentation</vt:lpstr>
      <vt:lpstr>PowerPoint Presentation</vt:lpstr>
      <vt:lpstr>Deliverables &amp; Handover</vt:lpstr>
      <vt:lpstr>Phase 2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Judy AI – POC Handoff</dc:title>
  <dc:subject>AI-Powered E-Signature Workflow POC handoff, 28 October 2026</dc:subject>
  <dc:creator>nClouds</dc:creator>
  <cp:lastModifiedBy>Muhammad Zuhair Qadir</cp:lastModifiedBy>
  <cp:revision>1</cp:revision>
  <dcterms:modified xsi:type="dcterms:W3CDTF">2026-10-28T16:31:35Z</dcterms:modified>
</cp:coreProperties>
</file>